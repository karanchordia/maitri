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2d102ec6843c8" /><Relationship Type="http://schemas.openxmlformats.org/officeDocument/2006/relationships/extended-properties" Target="/docProps/app.xml" Id="Ra6f44dc306dc4876" /><Relationship Type="http://schemas.openxmlformats.org/officeDocument/2006/relationships/officeDocument" Target="/ppt/presentation.xml" Id="Rfd1f1f6563b242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63accab5449c8"/>
  </p:sldMasterIdLst>
  <p:notesMasterIdLst>
    <p:notesMasterId xmlns:r="http://schemas.openxmlformats.org/officeDocument/2006/relationships" r:id="R94eb36d9a1764616"/>
  </p:notesMasterIdLst>
  <p:sldIdLst>
    <p:sldId xmlns:r="http://schemas.openxmlformats.org/officeDocument/2006/relationships" id="256" r:id="R7b58172911c04776"/>
    <p:sldId xmlns:r="http://schemas.openxmlformats.org/officeDocument/2006/relationships" id="257" r:id="Rde9d3c616dfd4ae1"/>
    <p:sldId xmlns:r="http://schemas.openxmlformats.org/officeDocument/2006/relationships" id="258" r:id="Rc438cfc80a434792"/>
    <p:sldId xmlns:r="http://schemas.openxmlformats.org/officeDocument/2006/relationships" id="259" r:id="Rf69efcffafc94493"/>
    <p:sldId xmlns:r="http://schemas.openxmlformats.org/officeDocument/2006/relationships" id="260" r:id="R0d910605087a4a0e"/>
    <p:sldId xmlns:r="http://schemas.openxmlformats.org/officeDocument/2006/relationships" id="261" r:id="R35b5e8c0f2db4e39"/>
    <p:sldId xmlns:r="http://schemas.openxmlformats.org/officeDocument/2006/relationships" id="262" r:id="R0e4058daaa5042ee"/>
    <p:sldId xmlns:r="http://schemas.openxmlformats.org/officeDocument/2006/relationships" id="263" r:id="R58356ae25463494d"/>
    <p:sldId xmlns:r="http://schemas.openxmlformats.org/officeDocument/2006/relationships" id="264" r:id="Re3c2d405be244def"/>
    <p:sldId xmlns:r="http://schemas.openxmlformats.org/officeDocument/2006/relationships" id="265" r:id="R26a0e30d09944185"/>
    <p:sldId xmlns:r="http://schemas.openxmlformats.org/officeDocument/2006/relationships" id="266" r:id="R0f26e3e662f04e5d"/>
    <p:sldId xmlns:r="http://schemas.openxmlformats.org/officeDocument/2006/relationships" id="267" r:id="R111e4e4760bd4ab7"/>
    <p:sldId xmlns:r="http://schemas.openxmlformats.org/officeDocument/2006/relationships" id="268" r:id="R0a9d5422452d4b9a"/>
    <p:sldId xmlns:r="http://schemas.openxmlformats.org/officeDocument/2006/relationships" id="269" r:id="Rf4e219b222394afe"/>
    <p:sldId xmlns:r="http://schemas.openxmlformats.org/officeDocument/2006/relationships" id="270" r:id="R6594b59b6d654f04"/>
    <p:sldId xmlns:r="http://schemas.openxmlformats.org/officeDocument/2006/relationships" id="271" r:id="R2e3543f0e8374f93"/>
    <p:sldId xmlns:r="http://schemas.openxmlformats.org/officeDocument/2006/relationships" id="272" r:id="Rd5e225d028234180"/>
    <p:sldId xmlns:r="http://schemas.openxmlformats.org/officeDocument/2006/relationships" id="273" r:id="Rfd6d85ba681649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a5e89691484fdb" /><Relationship Type="http://schemas.openxmlformats.org/officeDocument/2006/relationships/slideMaster" Target="/ppt/slideMasters/slideMaster1.xml" Id="R0ee63accab5449c8" /><Relationship Type="http://schemas.openxmlformats.org/officeDocument/2006/relationships/notesMaster" Target="/ppt/notesMasters/notesMaster1.xml" Id="R94eb36d9a1764616" /><Relationship Type="http://schemas.openxmlformats.org/officeDocument/2006/relationships/presProps" Target="/ppt/presProps.xml" Id="Rf404fd7a226545b0" /><Relationship Type="http://schemas.openxmlformats.org/officeDocument/2006/relationships/tableStyles" Target="/ppt/tableStyles.xml" Id="R8a738725b27b44fa" /><Relationship Type="http://schemas.openxmlformats.org/officeDocument/2006/relationships/slide" Target="/ppt/slides/slide1.xml" Id="R7b58172911c04776" /><Relationship Type="http://schemas.openxmlformats.org/officeDocument/2006/relationships/slide" Target="/ppt/slides/slide2.xml" Id="Rde9d3c616dfd4ae1" /><Relationship Type="http://schemas.openxmlformats.org/officeDocument/2006/relationships/slide" Target="/ppt/slides/slide3.xml" Id="Rc438cfc80a434792" /><Relationship Type="http://schemas.openxmlformats.org/officeDocument/2006/relationships/slide" Target="/ppt/slides/slide4.xml" Id="Rf69efcffafc94493" /><Relationship Type="http://schemas.openxmlformats.org/officeDocument/2006/relationships/slide" Target="/ppt/slides/slide5.xml" Id="R0d910605087a4a0e" /><Relationship Type="http://schemas.openxmlformats.org/officeDocument/2006/relationships/slide" Target="/ppt/slides/slide6.xml" Id="R35b5e8c0f2db4e39" /><Relationship Type="http://schemas.openxmlformats.org/officeDocument/2006/relationships/slide" Target="/ppt/slides/slide7.xml" Id="R0e4058daaa5042ee" /><Relationship Type="http://schemas.openxmlformats.org/officeDocument/2006/relationships/slide" Target="/ppt/slides/slide8.xml" Id="R58356ae25463494d" /><Relationship Type="http://schemas.openxmlformats.org/officeDocument/2006/relationships/slide" Target="/ppt/slides/slide9.xml" Id="Re3c2d405be244def" /><Relationship Type="http://schemas.openxmlformats.org/officeDocument/2006/relationships/slide" Target="/ppt/slides/slide10.xml" Id="R26a0e30d09944185" /><Relationship Type="http://schemas.openxmlformats.org/officeDocument/2006/relationships/slide" Target="/ppt/slides/slide11.xml" Id="R0f26e3e662f04e5d" /><Relationship Type="http://schemas.openxmlformats.org/officeDocument/2006/relationships/slide" Target="/ppt/slides/slide12.xml" Id="R111e4e4760bd4ab7" /><Relationship Type="http://schemas.openxmlformats.org/officeDocument/2006/relationships/slide" Target="/ppt/slides/slide13.xml" Id="R0a9d5422452d4b9a" /><Relationship Type="http://schemas.openxmlformats.org/officeDocument/2006/relationships/slide" Target="/ppt/slides/slide14.xml" Id="Rf4e219b222394afe" /><Relationship Type="http://schemas.openxmlformats.org/officeDocument/2006/relationships/slide" Target="/ppt/slides/slide15.xml" Id="R6594b59b6d654f04" /><Relationship Type="http://schemas.openxmlformats.org/officeDocument/2006/relationships/slide" Target="/ppt/slides/slide16.xml" Id="R2e3543f0e8374f93" /><Relationship Type="http://schemas.openxmlformats.org/officeDocument/2006/relationships/slide" Target="/ppt/slides/slide17.xml" Id="Rd5e225d028234180" /><Relationship Type="http://schemas.openxmlformats.org/officeDocument/2006/relationships/slide" Target="/ppt/slides/slide18.xml" Id="Rfd6d85ba681649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ec817a7eba41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43e3553f448c7" /><Relationship Type="http://schemas.openxmlformats.org/officeDocument/2006/relationships/notesMaster" Target="/ppt/notesMasters/notesMaster1.xml" Id="R96cf763f287e4f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bd8961c974da5" /><Relationship Type="http://schemas.openxmlformats.org/officeDocument/2006/relationships/notesMaster" Target="/ppt/notesMasters/notesMaster1.xml" Id="Rba86f02e7cb6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57264d487347fe" /><Relationship Type="http://schemas.openxmlformats.org/officeDocument/2006/relationships/notesMaster" Target="/ppt/notesMasters/notesMaster1.xml" Id="Re737f29ac32c47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1043a22a514a29" /><Relationship Type="http://schemas.openxmlformats.org/officeDocument/2006/relationships/notesMaster" Target="/ppt/notesMasters/notesMaster1.xml" Id="R642fea5f4f8a40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64b87faee24f10" /><Relationship Type="http://schemas.openxmlformats.org/officeDocument/2006/relationships/notesMaster" Target="/ppt/notesMasters/notesMaster1.xml" Id="R19850c45619d41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3a8b8ea53644fc" /><Relationship Type="http://schemas.openxmlformats.org/officeDocument/2006/relationships/notesMaster" Target="/ppt/notesMasters/notesMaster1.xml" Id="R7a7826ca3e8249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38843f45944617" /><Relationship Type="http://schemas.openxmlformats.org/officeDocument/2006/relationships/notesMaster" Target="/ppt/notesMasters/notesMaster1.xml" Id="Rc575bf68c1184a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ff29a6e5c045cf" /><Relationship Type="http://schemas.openxmlformats.org/officeDocument/2006/relationships/notesMaster" Target="/ppt/notesMasters/notesMaster1.xml" Id="R814e3673cfd042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ba71417a684ad0" /><Relationship Type="http://schemas.openxmlformats.org/officeDocument/2006/relationships/notesMaster" Target="/ppt/notesMasters/notesMaster1.xml" Id="R16c1f72f71a441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0aef29192b4ca1" /><Relationship Type="http://schemas.openxmlformats.org/officeDocument/2006/relationships/notesMaster" Target="/ppt/notesMasters/notesMaster1.xml" Id="Rb049f1d08fcb4a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620bce73674e5a" /><Relationship Type="http://schemas.openxmlformats.org/officeDocument/2006/relationships/notesMaster" Target="/ppt/notesMasters/notesMaster1.xml" Id="R43f902113f6043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10835064fd4d69" /><Relationship Type="http://schemas.openxmlformats.org/officeDocument/2006/relationships/notesMaster" Target="/ppt/notesMasters/notesMaster1.xml" Id="Rab82fb30c9e14d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aa5b38712d4fbe" /><Relationship Type="http://schemas.openxmlformats.org/officeDocument/2006/relationships/notesMaster" Target="/ppt/notesMasters/notesMaster1.xml" Id="R5f9515facfc64f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a2e64beea744db" /><Relationship Type="http://schemas.openxmlformats.org/officeDocument/2006/relationships/notesMaster" Target="/ppt/notesMasters/notesMaster1.xml" Id="R907f34ab68144a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a1350c1aa5489f" /><Relationship Type="http://schemas.openxmlformats.org/officeDocument/2006/relationships/notesMaster" Target="/ppt/notesMasters/notesMaster1.xml" Id="R5817ed3c643740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f005d9f35142e9" /><Relationship Type="http://schemas.openxmlformats.org/officeDocument/2006/relationships/notesMaster" Target="/ppt/notesMasters/notesMaster1.xml" Id="R45063ae11a1c47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442edbf82d47e0" /><Relationship Type="http://schemas.openxmlformats.org/officeDocument/2006/relationships/notesMaster" Target="/ppt/notesMasters/notesMaster1.xml" Id="R86985b90af1542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9c2766fbce4197" /><Relationship Type="http://schemas.openxmlformats.org/officeDocument/2006/relationships/notesMaster" Target="/ppt/notesMasters/notesMaster1.xml" Id="R4cb1f71a826e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Maitri README; Strategy Working Brief; Maitri Circle website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Maitri Strategy Working Brief, sections 1-2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IMARC Indian Toys Market page accessed 2026-06-20; IMARC India Educational Toys Market page accessed 2026-06-20.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Shwethika Maitri Context; Maitri Strategy Working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Maitri First Doll Box Blueprint; Launch Decision - Start With One Complete Doll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Manu Character Bible v1; Maitri Strategy Working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Manu 32-Page Storybook Blueprint.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Maitri Add-On Revenue Roadmap; First Doll Box Blueprint.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Maitri Strategy Working Brief, Audience Segments.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Foundation Retainer Plan; Live Interest Capture Plan; Maitri Circle website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Live Interest Capture Plan; Monthly Signal Report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Maitri AI Workflows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README; project_status; strategy, product, content, validation, and demo folders.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Foundation Retainer Plan; Launch Decision; Add-On Revenue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Derived from approved deck outline and repo risk/validation guardrails.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BIS 10 steps to BIS Licence for Toys; Maitri Foundation Retainer Plan review guardrails.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Maitri Strategy Working Brief; Launch Decision; First Doll Box Blueprint.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appendix lists the source base used for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d6246f4334f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c2f4b827143c6" /><Relationship Type="http://schemas.openxmlformats.org/officeDocument/2006/relationships/slideLayout" Target="/ppt/slideLayouts/slideLayout1.xml" Id="Rac7799da961440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799da961440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e68299b69437e" /><Relationship Type="http://schemas.openxmlformats.org/officeDocument/2006/relationships/image" Target="/ppt/media/image.jpeg" Id="Rf3cf2c67b9a241d5" /><Relationship Type="http://schemas.openxmlformats.org/officeDocument/2006/relationships/notesSlide" Target="/ppt/notesSlides/notesSlide1.xml" Id="Rfdeaefbb1769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8d9c3006d46e0" /><Relationship Type="http://schemas.openxmlformats.org/officeDocument/2006/relationships/image" Target="/ppt/media/image2.jpeg" Id="Rd81d987189494951" /><Relationship Type="http://schemas.openxmlformats.org/officeDocument/2006/relationships/notesSlide" Target="/ppt/notesSlides/notesSlide2.xml" Id="R6ad9eb2ee86943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67fa2d67a420f" /><Relationship Type="http://schemas.openxmlformats.org/officeDocument/2006/relationships/notesSlide" Target="/ppt/notesSlides/notesSlide3.xml" Id="Reb042ae45990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430308c5649a7" /><Relationship Type="http://schemas.openxmlformats.org/officeDocument/2006/relationships/notesSlide" Target="/ppt/notesSlides/notesSlide4.xml" Id="Rf091510597f84a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a02857a264a7c" /><Relationship Type="http://schemas.openxmlformats.org/officeDocument/2006/relationships/notesSlide" Target="/ppt/notesSlides/notesSlide5.xml" Id="R6a1d2131f55347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bd18913fe4553" /><Relationship Type="http://schemas.openxmlformats.org/officeDocument/2006/relationships/image" Target="/ppt/media/image3.jpeg" Id="R7c494facf64c4a55" /><Relationship Type="http://schemas.openxmlformats.org/officeDocument/2006/relationships/notesSlide" Target="/ppt/notesSlides/notesSlide6.xml" Id="R31ebafb6bcf943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bd69806d4c53" /><Relationship Type="http://schemas.openxmlformats.org/officeDocument/2006/relationships/notesSlide" Target="/ppt/notesSlides/notesSlide7.xml" Id="R9da59b3625a642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94a96772146b1" /><Relationship Type="http://schemas.openxmlformats.org/officeDocument/2006/relationships/notesSlide" Target="/ppt/notesSlides/notesSlide8.xml" Id="R2efc4c740ba34c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74f442c91401e" /><Relationship Type="http://schemas.openxmlformats.org/officeDocument/2006/relationships/notesSlide" Target="/ppt/notesSlides/notesSlide9.xml" Id="R966d29f5c6f446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9c01901b248d2" /><Relationship Type="http://schemas.openxmlformats.org/officeDocument/2006/relationships/image" Target="/ppt/media/image4.jpeg" Id="Rbd91e78479e84133" /><Relationship Type="http://schemas.openxmlformats.org/officeDocument/2006/relationships/notesSlide" Target="/ppt/notesSlides/notesSlide10.xml" Id="R8518a0fed22d45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7d1a3cb174cab" /><Relationship Type="http://schemas.openxmlformats.org/officeDocument/2006/relationships/notesSlide" Target="/ppt/notesSlides/notesSlide11.xml" Id="Rbee99d5c76604b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0c7c292594119" /><Relationship Type="http://schemas.openxmlformats.org/officeDocument/2006/relationships/notesSlide" Target="/ppt/notesSlides/notesSlide12.xml" Id="R44f14d7229a944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4b2a15d74f21" /><Relationship Type="http://schemas.openxmlformats.org/officeDocument/2006/relationships/image" Target="/ppt/media/image.png" Id="Rcc7ea6146ea54544" /><Relationship Type="http://schemas.openxmlformats.org/officeDocument/2006/relationships/notesSlide" Target="/ppt/notesSlides/notesSlide13.xml" Id="R29010e8cb4cb49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b2ddf64ec462a" /><Relationship Type="http://schemas.openxmlformats.org/officeDocument/2006/relationships/notesSlide" Target="/ppt/notesSlides/notesSlide14.xml" Id="R05ae843381da44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99667ef3549ee" /><Relationship Type="http://schemas.openxmlformats.org/officeDocument/2006/relationships/notesSlide" Target="/ppt/notesSlides/notesSlide15.xml" Id="R7c4d467bc3e54f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ae1ae68f3458b" /><Relationship Type="http://schemas.openxmlformats.org/officeDocument/2006/relationships/notesSlide" Target="/ppt/notesSlides/notesSlide16.xml" Id="R176ad523323840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d64bd379c4982" /><Relationship Type="http://schemas.openxmlformats.org/officeDocument/2006/relationships/image" Target="/ppt/media/image5.jpeg" Id="R958cd323482240a5" /><Relationship Type="http://schemas.openxmlformats.org/officeDocument/2006/relationships/notesSlide" Target="/ppt/notesSlides/notesSlide17.xml" Id="R2e9dda47fa084d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17b1144c94dd0" /><Relationship Type="http://schemas.openxmlformats.org/officeDocument/2006/relationships/notesSlide" Target="/ppt/notesSlides/notesSlide18.xml" Id="Raabcd6eaf28f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426DB-B284-42EF-B526-109919B3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82C61-063F-4DB2-A5C5-FF5160CC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03B7F-568A-415B-8CA8-39F9C036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f2c67b9a241d5"/>
          <a:srcRect xmlns:a="http://schemas.openxmlformats.org/drawingml/2006/main" l="9720" t="0" r="9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704850"/>
            <a:ext cx="4810125" cy="5334000"/>
          </a:xfrm>
          <a:prstGeom xmlns:a="http://schemas.openxmlformats.org/drawingml/2006/main" prst="roundRect">
            <a:avLst>
              <a:gd name="adj" fmla="val 514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F8FE7-16EC-4867-9395-7EB718DB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Maitri Dolls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33AAF-96A8-4D45-8973-221D727F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A story-first companion universe inspired by remarkable women from India.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72087-9327-43D0-9AA4-04EE3659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571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Investor &amp; strategic partner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BE1FF-360A-4018-B8E5-393ECF9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Built around one disciplined first wedge: children fall in love with Manu; parents see meaning, learning, and trust.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2D770-F6C6-431B-AAFF-CD9934B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Prepared from Maitri project materials and current public market references.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91F8B-1A5A-4A77-9146-599A9669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6521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7AFDB-7C87-499E-887E-FBB8D568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B2E8E-BDAC-400C-9DDE-871FDC45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F806D-8C2D-4445-BB3C-61D4155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6335B-7D48-404C-B33D-2A12685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THE BIG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33F36-3E09-4E4D-8A10-E80F90E8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Make children befriend</a:t>
            </a:r>
          </a:p>
          <a:p xmlns:a="http://schemas.openxmlformats.org/drawingml/2006/main">
            <a:pPr algn="l">
              <a:defRPr sz="2775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Indian heroines before</a:t>
            </a:r>
          </a:p>
          <a:p xmlns:a="http://schemas.openxmlformats.org/drawingml/2006/main">
            <a:pPr algn="l">
              <a:defRPr sz="2775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they own the doll.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953A7-EC37-4E08-A4C4-9B1067BB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project is designed as a character-led world, not a toy SKU waiting for inventory.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d987189494951"/>
          <a:srcRect xmlns:a="http://schemas.openxmlformats.org/drawingml/2006/main" l="5130" t="0" r="5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876300"/>
            <a:ext cx="3524250" cy="2800350"/>
          </a:xfrm>
          <a:prstGeom xmlns:a="http://schemas.openxmlformats.org/drawingml/2006/main" prst="roundRect">
            <a:avLst>
              <a:gd name="adj" fmla="val 88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5AEC4-41AC-4632-BB72-3E6125C3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5791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51D41-7914-4181-AC82-12B40C46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Companion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8BF93-C2F4-40A3-8F7F-1EEDAD8C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The doll is a friend first, not a collectible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25E6D-F780-4375-A34F-3B37419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5791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FD873-E01D-4004-8B70-34359304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479CE-886E-4AE4-8539-0263BC4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147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The book creates attachment, recall, and repeat play.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DF209-A7C9-4FCB-AB20-F59D8537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5791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93960-2B95-4B0F-B3FC-BE15203C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Culture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8E1D4-7FD5-47E8-8F31-64B43124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957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Indian faces, regions, values, history, and family contexts.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A4420-55AB-4F27-9921-F7509E30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5791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B7C96-4A87-4153-8232-09F6C5DE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67F38-AE1F-4E23-BB65-76666977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768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Community signals before inventory-heavy commitments.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52B77-4EC1-41A8-B59B-BD964B98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Maitri Strategy Working Brief.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12D34-4001-410B-8769-D90B6245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887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4CC74-762B-4EE1-9383-08BEAE0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17513-3C0D-4113-968A-91ADC199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0C417-74B1-4AD8-9883-89E36944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A6FA3-25D0-4C8A-87CD-5E393803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F0C5C-A49D-4016-ACBB-5463FCA6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A growing toy market is meeting a deeper parent need.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A9B82-2D63-40A5-8921-57A76C88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Maitri sits between premium play, cultural identity, learning, and story-led community.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48AEE-32EE-4C8E-BA6E-6CF1773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38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03D72-5381-4480-82C8-127B920D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189A93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189A93"/>
                </a:solidFill>
                <a:latin typeface="Georgia"/>
                <a:ea typeface="Georgia"/>
                <a:cs typeface="Georgia"/>
              </a:rPr>
              <a:t>$1.9B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5DEED-01D9-4E04-9A85-775CC2F6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Indian toys market value in 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F0903-380F-495B-AF0F-042C5DB9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238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54A77-998A-4B37-93BD-019423C7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F6F8B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EF6F8B"/>
                </a:solidFill>
                <a:latin typeface="Georgia"/>
                <a:ea typeface="Georgia"/>
                <a:cs typeface="Georgia"/>
              </a:rPr>
              <a:t>$4.7B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181EA-7C0E-4B5A-8D91-9922A6B2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Projected Indian toys market value by 2033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D67A1-207A-416D-8714-EDC46DE0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238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47456-7A32-46B1-9579-053B3D4E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8B61C8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8B61C8"/>
                </a:solidFill>
                <a:latin typeface="Georgia"/>
                <a:ea typeface="Georgia"/>
                <a:cs typeface="Georgia"/>
              </a:rPr>
              <a:t>8.14%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29847-F27D-4C64-A521-0352B098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Projected CAGR for India educational toys, 2026-2034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B76EC-EA05-4739-9D41-B3DE840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8D537-5FAF-453C-B3A1-FCEE3DEB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Premium parents are not only buying entertainment; they are looking for meaning, learning, and identity.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6ABFB-DBBA-4653-A841-EB52D971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DAA96-280C-4A1F-A9D4-F879C4AC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Maitri can enter with an emotional wedge before scaling manufacturing depth.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6CE5A-BA63-4C04-8BBF-98693609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Market data: IMARC Group, 2025/2026 public summaries.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2AE88-B6ED-4712-83D9-7A416FA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7952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F3F59B-E32E-484B-AFF9-AF4F4E98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9068C-272B-41D3-8A41-C4319A6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4BA71-7C49-43CC-A897-AA6C14E0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0344-AD13-4777-9AE3-73577FFD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7BA86-4EBF-40C5-9C05-9AD2CFF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Children can access global doll worlds, but Indian story-led companion worlds remain underbuilt.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07C63-ACF6-447D-8B55-4EF72BCD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For parents, the gap is not only product availability. It is trust, representation, and meaningful repeat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EF47B-8346-4FEE-8278-268A628F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3143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F1584-9B85-42CC-852E-41B9820C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9A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Representation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2CE4F-FBF4-4E0B-9125-C786B350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Premium doll ecosystems rarely center Indian faces, regions, clothing, languages, and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02B39-6417-4ECE-9CD8-B4AC3C10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3143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46E0C-8F39-4676-B20C-3DE182A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28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82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6E104-BABC-4F01-BD09-9A87B3E8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History often feels too textbook-like for young children or too disconnected from play.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08703-9C01-43F6-BAD2-CBFC8BEE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3143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8A772-4EEF-41AC-A78B-1E40707D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692FD-EDA3-493E-94AB-180E0EDC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Parents need safety, quality, age-fit, cultural sensitivity, and credible product readiness.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1445D-4C3C-4F85-A75F-2C6D2A7C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Maitri strategy interpretation from founder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91981-AB0D-41CA-8523-7C9B6F2E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279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065AB-4996-482F-80F2-CC8FF70B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1CAA2-5E1D-4B96-8312-DC5D8107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89E2F-FEBC-41D8-BE04-71E16062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0782F-0089-43C7-86C1-1E62B365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DB6EA-77C3-4EE0-B9F8-AA0F91F3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A doll box that behaves like a relationship, not a one-time 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0CF9C-2DE8-42DC-8788-61F6C8CE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first box is designed to be complete enough to gift, focused enough to validate, and expandable when demand is proven.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F0B4A-4745-4082-A08E-6B54270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2381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65967-575E-4321-BA93-CDD26DE2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First Manu 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28DB8-2021-4C11-ACA6-3C15854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Doll + story + activities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CDEEA-D4E1-4E8C-B223-4805A647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14550"/>
            <a:ext cx="2000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9632B-4729-41AC-B7FD-EE49A974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2000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9A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Storybook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9ABD1-B78D-40C7-80BB-942C2CBB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2000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1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49EB7-B81C-4DED-86E6-C05140BB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2000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82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75A5D-86CD-4E6A-BA57-726E8282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000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8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Stickers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8EBAD-7024-426C-86F1-55E9644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First Doll Box Blueprint.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FC76D-C5B6-4E3B-A417-7F5BB752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0922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3CD48-6041-42B9-A637-36B9039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43F15-BEFE-4297-81A7-069E15C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50A49-60AD-4AEC-9648-EDC776AB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8013F-C54D-4CF8-B916-559D0D8A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FIRST CHARACTER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D06B8-7453-4421-8B97-1D9B1197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Manu is the emotional anchor for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C6C66-8957-4455-991F-9089C0C0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Inspired by Rani Laxmibai's childhood, Manu gives children courage through a friend they can understand.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94facf64c4a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066800"/>
            <a:ext cx="3143250" cy="3143250"/>
          </a:xfrm>
          <a:prstGeom xmlns:a="http://schemas.openxmlformats.org/drawingml/2006/main" prst="roundRect">
            <a:avLst>
              <a:gd name="adj" fmla="val 787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3C995-D22C-4D95-9211-939045E0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A8B39-C094-4B1A-8D1E-CD1BBFA7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9080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9A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0CE9D-4C19-470C-BD44-DD70829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82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Curious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FDCD0-008C-430F-8EDC-9F27CEE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1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0CAAE-7332-4D5C-BBBE-4692C319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8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E2021-60B8-4CC6-9083-BBCD820C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810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FA859-BF78-4361-996B-CACD3D03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Core 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A84E8-8F30-47FD-A772-996F9C84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Before she was a queen, she was a girl who asked why.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573F0-C6EC-41AC-84D1-4AF440A8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Child takeaway: courage begins before you feel ready.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87CC9-060C-473A-A8A3-B35AB62C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Manu Character Bible v1.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5D0A6-DC23-4F2E-8EBB-C8FD532E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6910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6BF7CC-C354-45C7-92FE-B40DF2B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B0BD5-8261-4570-8278-767331A3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055BA-80D0-4EF6-9FD0-E63DE44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9FD23-C9F2-45B8-9737-C62E7729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THE STORY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10835-3F2E-4D31-A025-BE441266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Book 1 turns history into a child-sized emotional arc.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8DAC3-1645-4C7D-95C1-B01FAD04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first story avoids rushing into the full queen narrative. It starts with one defining childhood moment.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D6710-5EA4-4167-A69E-5D57A43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F24F9-A670-4298-A922-F7D713DA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51A8B-3D12-4A19-A229-F82E1430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Manu feels different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A4D09-BA60-44F5-9672-D1B0A905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It is okay to ask brave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166FA-3D87-4D5B-8C5C-CB402AE6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2EDE7-8E1C-40C1-A3D7-7A6C7EC4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F9C2F-0B62-443B-94B3-D13E202C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The horse nobody could ride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E458D-6E4E-42D3-8803-EC43B9A8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529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Courage can be quiet and patient.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D07C9-E84E-4F7C-AC5B-FAB95BBF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C3FF1-724B-4145-AD48-42712C97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20859-C1B7-478A-A73E-5449D43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Manu must prove herself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2D750-79AE-437B-A57C-790FC294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Being brave does not mean being fearless.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E9BC1-1E6C-4815-95D4-B0129D7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09ACB-3079-4CBD-BAA9-4BDD374F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6A23C-D879-4F8B-8EFD-030C82B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290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Courage and patience win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BCCE0-8E05-4C9B-B095-3512AA05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529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Real courage helps others feel safe too.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0BFCD-9D6D-403D-837B-5E82FC7D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Manu 32-page Storybook Blueprint.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8B302-B71D-418E-8095-E5A687E0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9074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2B3EC2-2410-45FD-B501-67E3C9A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85F97-898D-4615-B7B1-18052544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0ACD8-8B75-4FBF-85D6-960EB5D3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67B77-2E58-4CF6-AA1B-81AF5B18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BUSINESS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B528F-8DF6-4216-9C3F-988A570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The first box proves the core; add-ons expand only after attachment is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B54AC-790A-4FF8-A62D-55A7FD8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This avoids day-one SKU complexity while preserving a much larger product roadmap.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E96D5-E5CD-4591-ADD8-5246BCBB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85725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6FEE1-B8EB-407B-98D0-F0BCF426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1C7B6-5FF7-4C7D-87E6-B8B4D2C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Doll, 32-page storybook, letter, activities, stickers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F8A7A-9D1C-4029-91C1-868F640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Proof of child love + parent 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613F5-40B9-4C2B-B09C-4768463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85725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D53F9-D22B-49FD-AE5C-2CF0F138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9A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Small Add-ons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7A816-2941-424F-B46C-29999BC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99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Sticker packs, journals, cards, simple outfits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79CD1-EECC-4CE2-8FD1-41773123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Low-friction repeat purchase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89091-9D74-4C78-9B6B-F68F5DA5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85725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A1564-2A90-48E6-9700-54564596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82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 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AF4F0-4CC0-4FC7-ACC3-324443A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862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Badal horse, warrior kit, foldable scenes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2D93B-7219-4164-96A8-9587C480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52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Imaginative play and 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CFDA7-1657-49AC-A89E-E892D49C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85725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28EFE-3F7E-48C5-8558-A238D68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1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+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4AF8E-D6DF-4223-8941-A1B8EAA5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625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Fort playset, map game, workshops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A0502-C90F-4B99-9882-BC6DA3E3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29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Higher-value ecosystem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DFCB7-F1E0-4AB7-AD17-9E54376E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Guardrail: the story creates demand for accessories, not the other way around.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45E36-ABE0-4862-803D-2288227C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Add-On Revenue Roadmap.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2CC7F-3FF1-454B-BD55-35B6312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0065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D8846-1A10-47FD-82A9-79E5C85D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79301-BF8D-4FD0-8A3E-3C4807C3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BA024-09BA-4071-8BB6-67060C48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05A2A-8A6E-44EC-8FE5-810F676F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7683C-038F-40FB-9696-D6D15E1D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The buyer is the parent. The brand must win the child.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8C548-17C1-4D4A-A246-703D42F3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Maitri's early system has to speak to family emotion and parent trust at the same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45246-0627-4038-A568-A2352BA7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EDE9A-3679-4E37-805F-DD2A6AEC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11E29-C94F-4A99-A9B1-AEEC0CC7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Urban and semi-urban parents of children around 5-10 seeking meaningful, culturally rooted play.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16E15-16A7-4812-BD5E-FF356B99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D248D-C1D6-4C8F-A89B-5D7A7D3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71800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9A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Gift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EF64A-851E-46B0-BD02-B2EF1CE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623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Grandparents, relatives, and NRI families looking for Indian identity gifts that feel premium.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BBD65-5583-40CE-9FE2-EF53C607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7FCE7-E1BD-41F4-8A6A-0136D8EB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1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Institutional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3CE1C-0E69-4D2E-9F24-C0B987F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Schools, libraries, book clubs, museums, cultural groups, and workshop organizers.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F87F8-547F-40CD-ABD0-E94DBBB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Maitri Strategy Working Brief.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7FEE6-ABDA-48B4-A4CC-3AC8975B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9992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D15B9-B0B0-4582-9E08-852EF0A1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C382C-9A39-47E6-8F1C-52143AF6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9B5F3-5867-4128-A8F1-67C137E5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9B5D2-986A-4AB9-BBA1-0373E8C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B39B1-29B1-4425-96B7-3986B91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Maitri Circle turns pre-launch attention into readable demand.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073AC-5D6E-4425-8B2F-7761878F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first public motion is not a preorder push. It is story, community, and signal capture.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1e78479e84133"/>
          <a:srcRect xmlns:a="http://schemas.openxmlformats.org/drawingml/2006/main" l="4596" t="0" r="45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143000"/>
            <a:ext cx="3714750" cy="24765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8E10A-D772-4AE5-9CD0-99B4D209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BE505-9A27-4EDE-BADD-A298707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6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Website waitlist + parent survey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E76C8-CF55-48CD-82FB-DBFFABF9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870BC-8F8C-49B2-9249-2303D306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Instagram and YouTube story rhythm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FFB8C-98BB-4E42-8513-7A84DFB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067CC-9D96-444E-9017-7411882D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Letters from Maitri newsletter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356E6-E0B6-4066-83D1-0C0E388B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D7084-EEDD-4634-A699-5BA926D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62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Beta readers and read-aloud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81B48-7F1E-4A12-BD34-50994502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274E5-32D8-4A4D-AFCE-CE871ECC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School/workshop interest when signal appears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C4FE1-98EE-42D9-BFB7-E6A24D66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Foundation Retainer Plan and Maitri Circle prototype.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BB51C-8A84-4069-8174-EEE54D46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196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28C45-4D05-4096-8707-FC24FEF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B88A6-D93A-4679-ADDF-D5639C16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9AECD-4DB3-4B6B-B49D-DEA8DD08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60EDE-ACE3-49FE-B3D1-0D77B6CA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DEMAND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2B374-D17E-403F-9D6D-D08C1D4A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The current plan measures quality of interest before inventory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A4969-EBA7-4168-ADB0-4E1210B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waitlist and survey are designed to answer what investors will ask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EAF40-D020-4337-9ABE-683DACA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762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D7141-FE9F-477C-A679-BF237558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Who is joining?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5DB53-CA40-4EE1-885D-7587B46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buyer segment, child age, NRI/gift/educator mix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F4839-A20A-4ECF-A0CB-647D0653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4762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A86AE-D458-43C4-9D80-14D9EB5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6F7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6F74"/>
                </a:solidFill>
                <a:latin typeface="Aptos"/>
                <a:ea typeface="Aptos"/>
                <a:cs typeface="Aptos"/>
              </a:rPr>
              <a:t>What do they want?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DB6EA-3718-484D-8417-2A5F2516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story preference, beta-reader interest, school interest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B31E1-2640-4411-A148-6209B63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4762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7F389-7217-4681-8E65-04FF24B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Will they convert?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44D27-0B3A-414A-B9AB-6C448C7C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preorder signal, price/safety questions, objections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D91D6-6647-411C-87A2-3AE9F9D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91000"/>
            <a:ext cx="4762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D54BF-9BCE-40E8-B96F-5C61EFC7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6F7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6F74"/>
                </a:solidFill>
                <a:latin typeface="Aptos"/>
                <a:ea typeface="Aptos"/>
                <a:cs typeface="Aptos"/>
              </a:rPr>
              <a:t>What should change?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EFEB9-E67B-4E9C-8CE4-7BB6982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monthly recommendation from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49E47-CE65-4A2F-AA1B-299805B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Live Interest Capture Plan and Monthly Signal Report Template.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A725B-C4CA-4342-987E-A7EA5D0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8247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6F0C1-61FE-4B7E-A40F-57EFDDF3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449EE-F642-4EC3-92DA-BAA01729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C6165-7E1D-4F6D-8DE9-4DF5D5C6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E5180-3C09-4B1D-8A14-36E4745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AI-ASSISTED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EAB26-343A-4881-89BF-FDA48D98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AI can help Maitri move faster without becoming the product promise.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93823-6CBB-407A-9E76-AC0D42E3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repo positions AI as a disciplined internal layer with human review for history, child language, safety, and founder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6E8A9-6B81-4694-B8B3-ED731E9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32575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4F700-A1EE-4D7E-8664-1242FDD6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1388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Character Universe Builder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BCA94-B543-4EED-A5A9-8990F13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consistent dossiers from approved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C7B76-FBAD-46D3-9A35-1B2B0914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32575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5F0C2-AE7F-4057-A3BF-42BE3956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B6F74"/>
                </a:solidFill>
                <a:latin typeface="Aptos"/>
                <a:ea typeface="Aptos"/>
                <a:cs typeface="Aptos"/>
              </a:defRPr>
            </a:pPr>
            <a:r>
              <a:rPr sz="1388" b="1" i="0">
                <a:solidFill>
                  <a:srgbClr val="0B6F74"/>
                </a:solidFill>
                <a:latin typeface="Aptos"/>
                <a:ea typeface="Aptos"/>
                <a:cs typeface="Aptos"/>
              </a:rPr>
              <a:t>Story Development Assistant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09594-E10F-436A-9985-57960DF9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outlines, scenes, prompts, activities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53B97-3C5E-4625-A978-01A1362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32575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FF9DD-9F9C-45A5-8AE3-A4012DFC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8B61C8"/>
                </a:solidFill>
                <a:latin typeface="Aptos"/>
                <a:ea typeface="Aptos"/>
                <a:cs typeface="Aptos"/>
              </a:defRPr>
            </a:pPr>
            <a:r>
              <a:rPr sz="1388" b="1" i="0">
                <a:solidFill>
                  <a:srgbClr val="8B61C8"/>
                </a:solidFill>
                <a:latin typeface="Aptos"/>
                <a:ea typeface="Aptos"/>
                <a:cs typeface="Aptos"/>
              </a:rPr>
              <a:t>Historical Claim Tracker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128B6-C543-43B7-BA20-B9FA142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separate verified facts from fiction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33A3D-2B5F-42B6-A571-46BBC12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2575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473DE-89B3-4854-B0E7-30646D2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1388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Content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F4BB6-BB93-44D8-B937-DA35187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reels, carousels, newsletters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BBCD5-0B98-4C1E-8985-D612CC53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32575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6D6C6-81D4-43BC-9F3A-6772721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B6F74"/>
                </a:solidFill>
                <a:latin typeface="Aptos"/>
                <a:ea typeface="Aptos"/>
                <a:cs typeface="Aptos"/>
              </a:defRPr>
            </a:pPr>
            <a:r>
              <a:rPr sz="1388" b="1" i="0">
                <a:solidFill>
                  <a:srgbClr val="0B6F74"/>
                </a:solidFill>
                <a:latin typeface="Aptos"/>
                <a:ea typeface="Aptos"/>
                <a:cs typeface="Aptos"/>
              </a:rPr>
              <a:t>Feedback Analyzer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5A4CB-6702-486C-BB23-B2CAE86B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005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cluster parent and child signals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FF901-56E5-425A-A22C-2FC957B9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2575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466DCA-7E1C-4EF5-AB16-4313C44C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8B61C8"/>
                </a:solidFill>
                <a:latin typeface="Aptos"/>
                <a:ea typeface="Aptos"/>
                <a:cs typeface="Aptos"/>
              </a:defRPr>
            </a:pPr>
            <a:r>
              <a:rPr sz="1388" b="1" i="0">
                <a:solidFill>
                  <a:srgbClr val="8B61C8"/>
                </a:solidFill>
                <a:latin typeface="Aptos"/>
                <a:ea typeface="Aptos"/>
                <a:cs typeface="Aptos"/>
              </a:rPr>
              <a:t>Waitlist Intelligence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7B293-2C5E-4637-B766-602F0785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segments, objections, launch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45AE7-07EF-4954-8183-01804D4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Maitri AI Workflows Map.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A8D58-8014-4E3D-81D5-5E505D72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0010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736BB-1DAD-4626-B3BD-35E54235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DC428-CE22-47EB-AECE-3DED0D98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9C323-F8C6-47C8-AC1D-F5065C2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88A54-063D-459B-AA5B-FFE3B83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CURRENT ASSETS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2B3DF-0B42-4F84-84F2-1697703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The project already has the foundations of a credible first raise or partner conversation.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11B92-0D91-44B0-9656-EF7B7736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repository contains strategy, product, validation, content, and prototype proof points.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ea6146ea545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123950"/>
            <a:ext cx="2857500" cy="28575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CC7C-5381-421F-B82F-23866D21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6BF96-8032-4C44-9C30-FAB2893F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Brand positioning and execution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F74DF-8ED3-4DAE-8F25-B3F66FDD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D5C96-6C2E-40C0-8BF7-4D8D7E24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Manu character bible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12952-53EC-46EC-AEC0-F5855EFC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BA40A-1AC3-4BAD-AEB4-CB8753F1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First doll box blueprint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6E014-8C80-470F-9B7D-BB95CD31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DA5AE-7133-4685-81CC-B585FF5D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32-page storybook blueprint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456B3-6A19-4AEA-BE67-76050D53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DFF24-3A9B-479B-BA57-DC7C1BED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Month-one Instagram + YouTube calendar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43ED3-25C8-4FE7-936C-6AB76711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F74AA-5A37-4D87-A0E1-61BA7CC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Waitlist and parent survey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7CCB3-266A-40F1-828B-FF48FDE2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A6277-EF70-4A40-B46C-C15C72EB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Monthly signal report template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0F2C3-1193-42C9-A976-CBF80382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C8804-926D-4D3E-BE2F-2DC00ED0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05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Maitri Circle website prototype and generated assets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F2987-7F75-402C-B3B2-4CD5E314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Maitri repository project files.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D031C-648A-47E8-A6E6-DDA5B53E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22804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A1E51-5F35-4687-A539-CE57555A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D62BB-1C70-46D1-A112-67B956F2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51AEC-43E1-4CA6-A9EA-B51AB11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A2E34-DC0C-454F-98A9-497D4916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981AE-A5B0-435B-B44E-BE306EBB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Big vision, narrow first wedge.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CC823-CF39-4087-A7C2-1D296AE1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The next phase should convert the existing creative foundation into measurable evidence and product readiness.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5AC18-0D00-4BE4-BAC5-1FB8C80E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20270-7979-4B77-8632-73654630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0-90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6C8A-743D-487F-BB05-2675D9F4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95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Maitri Circle validation, Manu content, social rhythm, beta-reader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72B8A-F4C9-45FC-94B1-D83E49AE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85354-1F0A-4406-9C82-B2F76E8E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9A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3-6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CC179-97F2-4174-8EB8-C6A88AD3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195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Product trust, storybook draft, school interest, founder preorder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42D1A-4032-4150-978A-61E710C3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ABC67-305A-4D21-A334-6B1FD3A1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82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Launch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1600C-C90A-47B6-AD0E-84DDB47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195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Only proceed when compliance, cost, safety, price, and demand signals align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38257-62DE-4CCD-BE7D-2402ECF4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2F325-54ED-4921-9B38-ADBF43D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1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D6E77-2516-46A4-8A05-DE59179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38550"/>
            <a:ext cx="195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First box, add-ons, new characters, school/community programs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0FB11-CDE7-4424-B91E-84BAD89A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Foundation Retainer Plan and Launch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8DF2E-CD4E-4A0E-AB2C-6F72F5FB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052600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1249C-DD98-47A2-BAAC-E667BA46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A63BC-16F4-4156-8484-26EE0920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28597-C497-4FB6-8955-03FA5BC8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71880-874F-472D-9B0E-E73F8976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B5F97-316F-4E54-824D-C373DC4A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Use capital and partners to de-risk the first Manu box.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605F6-D66C-4021-9901-607F0330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71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Tailor this slide by audience: VC, strategic partner, manufacturer, school network, or brand collaborator.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37BB8-A1EE-4EC4-96D5-6B3B4A21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8572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89824-B5EF-4678-84FE-A8A07F66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Product development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28624-5C86-4F45-83F4-A440D521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storybook production, prototype refinement, packaging, child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90133-B104-4D7C-9061-78490AB8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8572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C4A0B-A23C-4BA9-A64D-DCBFCFBD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Manufacturing + compliance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D0BF4-7C64-42FC-B680-DE9EB30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materials, supplier readiness, BIS process, testing pathway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39075-3749-484D-9392-D0DB189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8572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312F5-FEAB-4C9F-BBF3-788FBF28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Community 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695BC-8BC7-43D9-BCAF-0279CFE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content production, beta readers, parent panels, school pilots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33332-42BA-47C7-A945-63D92BD4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8572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432BD-C58D-43F2-9164-12E7466D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1039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51039"/>
                </a:solidFill>
                <a:latin typeface="Aptos"/>
                <a:ea typeface="Aptos"/>
                <a:cs typeface="Aptos"/>
              </a:rPr>
              <a:t>Distribution partnerships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94567-A017-4ACA-B44B-41858F18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retail, gifting, education, NRI and cultural channels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ABD4B-964D-42EA-9516-77A5D524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7239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finalize: amount, round type, use-of-funds, milestones, and commercial terms.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BDCF8-5563-45EA-BA8B-2CD44215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Open data needed from founder: target raise, unit economics, production quotes, current traction.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983FA-B21C-4D4F-A803-3ACE1EEA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912068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0A054-974D-40AC-94F2-554962B8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34BFE-9247-422E-871B-AC30539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291ED-3B5E-489A-B630-0415C7B0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15C43-B5BE-49C5-8233-CEBDFC0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READINESS GUARDRAILS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792C8-B85B-45B3-B8F6-762282AE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Trust is part of the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2561E-9515-431C-BE5B-C63AD7F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Maitri should keep safety, historical accuracy, child language, and production readiness as explicit launch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ADAE3-3705-4D35-9AE4-A0319B0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14325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6662C-05DE-4476-BBC2-6EB2DF61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9A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BIS pathway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1F834-93D6-4D14-B3CF-59B06BC4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Non-electric toys map to IS 9873; electric toys map to IS 15644 in BIS guidance.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53904-A615-41CE-AD9A-5C8934D9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14325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4F890-B5BA-400A-89A4-90ED88F6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1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BC507-4E7F-4044-9D7B-C365EAEC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814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Historical claims, fictionalization, child language, and safety claims need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26B1B-7148-450B-B7F0-0BD7C42A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14325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11F88-A953-4B6E-BFCC-2076154B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Preorder discipline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B715-B3D0-40BD-BA69-EA9E01EF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814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Do not request payment or promise delivery until product readiness is clear.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23D84-BF65-40D0-A263-BF023017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BIS toy certification guidance and Maitri review guardrails.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84FFD-535F-4367-A76E-BB5C2A1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00718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15FAA-1E43-40F0-9BA4-2CEC3F09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E984A-D7BB-43C1-B785-B9DC0C8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893E1-BD06-47DD-AC41-44E72E9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5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cd323482240a5"/>
          <a:srcRect xmlns:a="http://schemas.openxmlformats.org/drawingml/2006/main" l="14315" t="0" r="14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066800"/>
            <a:ext cx="3905250" cy="2857500"/>
          </a:xfrm>
          <a:prstGeom xmlns:a="http://schemas.openxmlformats.org/drawingml/2006/main" prst="roundRect">
            <a:avLst>
              <a:gd name="adj" fmla="val 8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46989-BA70-4020-A376-AA818D92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Maitri's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6B338-F0FD-415C-8FD4-2CE1A97F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715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Build emotional attachment first. Prove demand second. Scale the product universe third.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36D2F-9E1E-4988-8CEA-7BFF3CDF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5572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The first Manu box gives Maitri a focused wedge: one lovable character, one parent-trusted promise, one measurable path to product-market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A9C6F-1565-42BD-8CFC-947E32D7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4381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Maitri Circle -&gt; Manu Box -&gt; Character Universe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FD884-6612-4607-9344-6736C520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Source: Maitri strategy and first-box launch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ACE41-C710-451C-B37E-ADF40B08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983220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E94CB6-9D65-4C9D-BC8A-1F25B5C7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7CCD9-2806-4404-9FD1-FF23FB57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1381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11659-B9CF-4A7E-9C56-BE43BA5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4000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84827-3D56-4827-B6A5-50DECEF1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82AE5-9350-46FF-90F0-216B3295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51039"/>
                </a:solidFill>
                <a:latin typeface="Georgia"/>
                <a:ea typeface="Georgia"/>
                <a:cs typeface="Georgia"/>
              </a:rPr>
              <a:t>Source base used for this deck.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95905-163B-43B8-A9F8-85764A3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Deck claims are drawn from Maitri repository materials and current public references.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D110D-4759-4935-BE7A-43344F8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EDE98-8C30-4AD1-B5BF-B2D6040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Maitri repository: README, project status, foundation map, foundation retainer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FB3F5-D3D7-4240-9BD6-5B0F9CEE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D452C-E6F8-461B-9412-48D18AA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Founder context: Shwethika email context and first-box launch approach note.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E2932-60C7-4314-8161-2249742A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9C956-72F8-41F0-8EDD-93441C7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Strategy: Maitri Strategy Working Brief and Restructured Execution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BA871-AF6A-4EC7-BC9E-7851F4D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D53F8-5E01-4AA7-9DAA-99AF7158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Product: Manu Character Bible v1, First Doll Box Blueprint, 32-page Storybook Blueprint, Add-On Revenue Roadmap.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FF128-6427-402E-9332-6411E77D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2C491-B052-4D20-A3DF-E4F876A5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Validation: Live Interest Capture Plan and Monthly Signal Report Template.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0D79E-1429-4968-8D90-B68D3E6F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63E8C-B405-4AEF-8159-1A480940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Prototype: Maitri Circle website assets and generated visuals.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58AA9-412E-4D08-B1FE-6B7441F1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50DAF-126C-49D5-A4C2-D22C7AF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External: IMARC Indian Toys Market public summary, Feb 2025; IMARC India Educational Toys Market public summary, accessed June 2026.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3F775-351B-44CA-9939-9E871963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5DD5D-DADC-4CB8-AD4D-B7636E8F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626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5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43533"/>
                </a:solidFill>
                <a:latin typeface="Aptos"/>
                <a:ea typeface="Aptos"/>
                <a:cs typeface="Aptos"/>
              </a:rPr>
              <a:t>External: BIS 10 steps to BIS Licence for Toys PDF.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E6317-29D7-4456-A43E-BD4A120A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496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D4961"/>
                </a:solidFill>
                <a:latin typeface="Aptos"/>
                <a:ea typeface="Aptos"/>
                <a:cs typeface="Aptos"/>
              </a:rPr>
              <a:t>Prepared 2026-06-20.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99707-740D-4C12-AF50-C666254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B547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B547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5967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2026-06-20T05:37:49.5510000Z</dcterms:created>
  <dcterms:modified xsi:type="dcterms:W3CDTF">2026-06-20T05:37:49.5510000Z</dcterms:modified>
</coreProperties>
</file>